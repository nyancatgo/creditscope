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68e94ae76c420b" /><Relationship Type="http://schemas.openxmlformats.org/officeDocument/2006/relationships/extended-properties" Target="/docProps/app.xml" Id="R32b2581b95714249" /><Relationship Type="http://schemas.openxmlformats.org/officeDocument/2006/relationships/officeDocument" Target="/ppt/presentation.xml" Id="Raf1bb470994b46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8d70b1373a4fa6"/>
  </p:sldMasterIdLst>
  <p:notesMasterIdLst>
    <p:notesMasterId xmlns:r="http://schemas.openxmlformats.org/officeDocument/2006/relationships" r:id="R9f62abf55e0b4b12"/>
  </p:notesMasterIdLst>
  <p:sldIdLst>
    <p:sldId xmlns:r="http://schemas.openxmlformats.org/officeDocument/2006/relationships" id="256" r:id="Rfc8ce5bfca9e4b9f"/>
    <p:sldId xmlns:r="http://schemas.openxmlformats.org/officeDocument/2006/relationships" id="257" r:id="R7ce88065aa084905"/>
    <p:sldId xmlns:r="http://schemas.openxmlformats.org/officeDocument/2006/relationships" id="258" r:id="Rf97347f850f94983"/>
    <p:sldId xmlns:r="http://schemas.openxmlformats.org/officeDocument/2006/relationships" id="259" r:id="Rc9270ac1e14a4648"/>
    <p:sldId xmlns:r="http://schemas.openxmlformats.org/officeDocument/2006/relationships" id="260" r:id="R17780a212b8e4cc0"/>
    <p:sldId xmlns:r="http://schemas.openxmlformats.org/officeDocument/2006/relationships" id="261" r:id="R480e76f4143b48c8"/>
    <p:sldId xmlns:r="http://schemas.openxmlformats.org/officeDocument/2006/relationships" id="262" r:id="Rb8a54486f0a244b4"/>
    <p:sldId xmlns:r="http://schemas.openxmlformats.org/officeDocument/2006/relationships" id="263" r:id="R48ca0fbb1c4b4b9f"/>
    <p:sldId xmlns:r="http://schemas.openxmlformats.org/officeDocument/2006/relationships" id="264" r:id="R8fc4ea7ea6c64b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d70b1373a4fa6" /><Relationship Type="http://schemas.openxmlformats.org/officeDocument/2006/relationships/theme" Target="/ppt/theme/theme1.xml" Id="Rbf51753880ad4da0" /><Relationship Type="http://schemas.openxmlformats.org/officeDocument/2006/relationships/notesMaster" Target="/ppt/notesMasters/notesMaster1.xml" Id="R9f62abf55e0b4b12" /><Relationship Type="http://schemas.openxmlformats.org/officeDocument/2006/relationships/presProps" Target="/ppt/presProps.xml" Id="Rd4941b22d9c14123" /><Relationship Type="http://schemas.openxmlformats.org/officeDocument/2006/relationships/viewProps" Target="/ppt/viewProps.xml" Id="R3107fca325314d76" /><Relationship Type="http://schemas.openxmlformats.org/officeDocument/2006/relationships/tableStyles" Target="/ppt/tableStyles.xml" Id="R905671c5e66445e3" /><Relationship Type="http://schemas.openxmlformats.org/officeDocument/2006/relationships/slide" Target="/ppt/slides/slide1.xml" Id="Rfc8ce5bfca9e4b9f" /><Relationship Type="http://schemas.openxmlformats.org/officeDocument/2006/relationships/slide" Target="/ppt/slides/slide2.xml" Id="R7ce88065aa084905" /><Relationship Type="http://schemas.openxmlformats.org/officeDocument/2006/relationships/slide" Target="/ppt/slides/slide3.xml" Id="Rf97347f850f94983" /><Relationship Type="http://schemas.openxmlformats.org/officeDocument/2006/relationships/slide" Target="/ppt/slides/slide4.xml" Id="Rc9270ac1e14a4648" /><Relationship Type="http://schemas.openxmlformats.org/officeDocument/2006/relationships/slide" Target="/ppt/slides/slide5.xml" Id="R17780a212b8e4cc0" /><Relationship Type="http://schemas.openxmlformats.org/officeDocument/2006/relationships/slide" Target="/ppt/slides/slide6.xml" Id="R480e76f4143b48c8" /><Relationship Type="http://schemas.openxmlformats.org/officeDocument/2006/relationships/slide" Target="/ppt/slides/slide7.xml" Id="Rb8a54486f0a244b4" /><Relationship Type="http://schemas.openxmlformats.org/officeDocument/2006/relationships/slide" Target="/ppt/slides/slide8.xml" Id="R48ca0fbb1c4b4b9f" /><Relationship Type="http://schemas.openxmlformats.org/officeDocument/2006/relationships/slide" Target="/ppt/slides/slide9.xml" Id="R8fc4ea7ea6c6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e18099214a2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508cd89e1433a" /><Relationship Type="http://schemas.openxmlformats.org/officeDocument/2006/relationships/notesMaster" Target="/ppt/notesMasters/notesMaster1.xml" Id="R248299ba384247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8a54ffadb349e5" /><Relationship Type="http://schemas.openxmlformats.org/officeDocument/2006/relationships/notesMaster" Target="/ppt/notesMasters/notesMaster1.xml" Id="Ra7049c7f845b4d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f3bacccbac41cb" /><Relationship Type="http://schemas.openxmlformats.org/officeDocument/2006/relationships/notesMaster" Target="/ppt/notesMasters/notesMaster1.xml" Id="R46c50e045c6f41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fa4190a0e143a4" /><Relationship Type="http://schemas.openxmlformats.org/officeDocument/2006/relationships/notesMaster" Target="/ppt/notesMasters/notesMaster1.xml" Id="R2b378d8213894f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d0c1c7fc82452a" /><Relationship Type="http://schemas.openxmlformats.org/officeDocument/2006/relationships/notesMaster" Target="/ppt/notesMasters/notesMaster1.xml" Id="R1f09be904f724f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c69e30d32c4ec1" /><Relationship Type="http://schemas.openxmlformats.org/officeDocument/2006/relationships/notesMaster" Target="/ppt/notesMasters/notesMaster1.xml" Id="Ra6cd830a4e6e49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70a54f638a4b5b" /><Relationship Type="http://schemas.openxmlformats.org/officeDocument/2006/relationships/notesMaster" Target="/ppt/notesMasters/notesMaster1.xml" Id="Red7fe81d9e024c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b9f6f3913f40e4" /><Relationship Type="http://schemas.openxmlformats.org/officeDocument/2006/relationships/notesMaster" Target="/ppt/notesMasters/notesMaster1.xml" Id="R4772d4aa72284a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c63284c28449a" /><Relationship Type="http://schemas.openxmlformats.org/officeDocument/2006/relationships/notesMaster" Target="/ppt/notesMasters/notesMaster1.xml" Id="R4d010f9542564a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Cover: present CreditScope as a finalized hybrid decision support system with a recall-first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recall-first logic is appropriate for the credit default setting and show the class imbalance.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shared preprocessing logic and highlight the two engineered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final choice is about delivery readiness and explainability, not only a small metric delta.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frozen baseline and stress that week 11 is a finalization step rather than a redesign.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post-model rule layer as the reason CreditScope behaves like a decision support tool instead of a black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SHAP visuals as proof that the final model is not only trained but also interpretable.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final validation: four scenarios, edge-case behavior, and UI/API smoke checks all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stressing maturity: the next step is operational hardening, not project rework.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e87c019fe40d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125A80B-FBC0-47BE-BD6E-10E30AD1514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E9D090F-C5EC-42D0-83F9-492644B4131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EE5E96-9FC1-4559-A822-542319A2805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2663B94-00CC-4069-B37B-E416C506E56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e9ee42fbec42b3" /><Relationship Type="http://schemas.openxmlformats.org/officeDocument/2006/relationships/slideLayout" Target="/ppt/slideLayouts/slideLayout2.xml" Id="Reac8ad69a4fb47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61C0FE-8807-43A4-A011-EB051578CB4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8ad69a4fb47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9a69d481fa4537" /><Relationship Type="http://schemas.openxmlformats.org/officeDocument/2006/relationships/image" Target="/ppt/media/image.png" Id="Rfb5a303842884c37" /><Relationship Type="http://schemas.openxmlformats.org/officeDocument/2006/relationships/notesSlide" Target="/ppt/notesSlides/notesSlide1.xml" Id="R91d224e990d847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3f30e86d1344f0" /><Relationship Type="http://schemas.openxmlformats.org/officeDocument/2006/relationships/chart" Target="/ppt/slides/charts/chart1.xml" Id="R8c449f67ffaf4fd7" /><Relationship Type="http://schemas.openxmlformats.org/officeDocument/2006/relationships/notesSlide" Target="/ppt/notesSlides/notesSlide2.xml" Id="R109076526c6a40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985f2da1940bd" /><Relationship Type="http://schemas.openxmlformats.org/officeDocument/2006/relationships/notesSlide" Target="/ppt/notesSlides/notesSlide3.xml" Id="R76b3c887e428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012511333c4857" /><Relationship Type="http://schemas.openxmlformats.org/officeDocument/2006/relationships/chart" Target="/ppt/slides/charts/chart2.xml" Id="R3b3008f3e11e4459" /><Relationship Type="http://schemas.openxmlformats.org/officeDocument/2006/relationships/notesSlide" Target="/ppt/notesSlides/notesSlide4.xml" Id="Rfbd185bf272c40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3a174d194c4310" /><Relationship Type="http://schemas.openxmlformats.org/officeDocument/2006/relationships/notesSlide" Target="/ppt/notesSlides/notesSlide5.xml" Id="R43d537f3f86f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f80efce2ab4e6d" /><Relationship Type="http://schemas.openxmlformats.org/officeDocument/2006/relationships/notesSlide" Target="/ppt/notesSlides/notesSlide6.xml" Id="R3aa788a5226f4e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388f74e1c439e" /><Relationship Type="http://schemas.openxmlformats.org/officeDocument/2006/relationships/image" Target="/ppt/media/image2.png" Id="R5f9a8875344f43e3" /><Relationship Type="http://schemas.openxmlformats.org/officeDocument/2006/relationships/image" Target="/ppt/media/image3.png" Id="R84a317c008df499e" /><Relationship Type="http://schemas.openxmlformats.org/officeDocument/2006/relationships/notesSlide" Target="/ppt/notesSlides/notesSlide7.xml" Id="R6181bab2dae64c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cb6b73f42e4608" /><Relationship Type="http://schemas.openxmlformats.org/officeDocument/2006/relationships/image" Target="/ppt/media/image4.png" Id="Re0d9e835f63c48f7" /><Relationship Type="http://schemas.openxmlformats.org/officeDocument/2006/relationships/notesSlide" Target="/ppt/notesSlides/notesSlide8.xml" Id="R052cf3f7868d4f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8969a0f4834e2f" /><Relationship Type="http://schemas.openxmlformats.org/officeDocument/2006/relationships/notesSlide" Target="/ppt/notesSlides/notesSlide9.xml" Id="R488d282c56d942e5" /></Relationships>
</file>

<file path=ppt/slides/charts/chart1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Pay</c:v>
          </c:tx>
          <c:spPr>
            <a:solidFill xmlns:a="http://schemas.openxmlformats.org/drawingml/2006/main">
              <a:srgbClr val="2F7A55"/>
            </a:solidFill>
            <a:ln xmlns:a="http://schemas.openxmlformats.org/drawingml/2006/main" w="9525">
              <a:solidFill>
                <a:srgbClr val="2F7A55"/>
              </a:solidFill>
              <a:prstDash val="solid"/>
            </a:ln>
          </c:spPr>
          <c:cat>
            <c:strLit>
              <c:ptCount val="2"/>
              <c:pt idx="0">
                <c:v>Güvenilir</c:v>
              </c:pt>
              <c:pt idx="1">
                <c:v>Riskli</c:v>
              </c:pt>
            </c:strLit>
          </c:cat>
          <c:val>
            <c:numLit>
              <c:formatCode/>
              <c:ptCount val="2"/>
              <c:pt idx="0">
                <c:v>79.6</c:v>
              </c:pt>
              <c:pt idx="1">
                <c:v>20.4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Logistic Regression</c:v>
          </c:tx>
          <c:spPr>
            <a:solidFill xmlns:a="http://schemas.openxmlformats.org/drawingml/2006/main">
              <a:srgbClr val="4A6FA5"/>
            </a:solidFill>
            <a:ln xmlns:a="http://schemas.openxmlformats.org/drawingml/2006/main" w="9525">
              <a:solidFill>
                <a:srgbClr val="4A6FA5"/>
              </a:solidFill>
              <a:prstDash val="solid"/>
            </a:ln>
          </c:spPr>
          <c:cat>
            <c:strLit>
              <c:ptCount val="4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</c:strLit>
          </c:cat>
          <c:val>
            <c:numLit>
              <c:formatCode/>
              <c:ptCount val="4"/>
              <c:pt idx="0">
                <c:v>68.85</c:v>
              </c:pt>
              <c:pt idx="1">
                <c:v>22.650000000000002</c:v>
              </c:pt>
              <c:pt idx="2">
                <c:v>69.62</c:v>
              </c:pt>
              <c:pt idx="3">
                <c:v>34.17</c:v>
              </c:pt>
            </c:numLit>
          </c:val>
        </c:ser>
        <c:ser>
          <c:idx val="1"/>
          <c:order val="1"/>
          <c:tx>
            <c:v>Random Forest</c:v>
          </c:tx>
          <c:spPr>
            <a:solidFill xmlns:a="http://schemas.openxmlformats.org/drawingml/2006/main">
              <a:srgbClr val="D9A441"/>
            </a:solidFill>
            <a:ln xmlns:a="http://schemas.openxmlformats.org/drawingml/2006/main" w="9525">
              <a:solidFill>
                <a:srgbClr val="D9A441"/>
              </a:solidFill>
              <a:prstDash val="solid"/>
            </a:ln>
          </c:spPr>
          <c:cat>
            <c:strLit>
              <c:ptCount val="4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</c:strLit>
          </c:cat>
          <c:val>
            <c:numLit>
              <c:formatCode/>
              <c:ptCount val="4"/>
              <c:pt idx="0">
                <c:v>81.17</c:v>
              </c:pt>
              <c:pt idx="1">
                <c:v>29.68</c:v>
              </c:pt>
              <c:pt idx="2">
                <c:v>45.39</c:v>
              </c:pt>
              <c:pt idx="3">
                <c:v>35.89</c:v>
              </c:pt>
            </c:numLit>
          </c:val>
        </c:ser>
        <c:ser>
          <c:idx val="2"/>
          <c:order val="2"/>
          <c:tx>
            <c:v>XGBoost</c:v>
          </c:tx>
          <c:spPr>
            <a:solidFill xmlns:a="http://schemas.openxmlformats.org/drawingml/2006/main">
              <a:srgbClr val="2F7A55"/>
            </a:solidFill>
            <a:ln xmlns:a="http://schemas.openxmlformats.org/drawingml/2006/main" w="9525">
              <a:solidFill>
                <a:srgbClr val="2F7A55"/>
              </a:solidFill>
              <a:prstDash val="solid"/>
            </a:ln>
          </c:spPr>
          <c:cat>
            <c:strLit>
              <c:ptCount val="4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</c:strLit>
          </c:cat>
          <c:val>
            <c:numLit>
              <c:formatCode/>
              <c:ptCount val="4"/>
              <c:pt idx="0">
                <c:v>68.27</c:v>
              </c:pt>
              <c:pt idx="1">
                <c:v>22.17</c:v>
              </c:pt>
              <c:pt idx="2">
                <c:v>69.01</c:v>
              </c:pt>
              <c:pt idx="3">
                <c:v>33.56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EE034-B02C-4ACD-901F-3C064D85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2E035-5CF7-4B39-9335-513656F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B10F7-15DC-42AE-B2EA-75A2B1C4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5810250" cy="542925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9D189-A9FF-4C48-943D-3C241CA2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810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F5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65EFB-0F8B-4849-BA36-D7734B1E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810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1CA87-2FD6-4313-A304-A40F05E7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340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A55"/>
                </a:solidFill>
              </a:defRPr>
            </a:pPr>
            <a:r>
              <a:rPr sz="1050" b="1">
                <a:solidFill>
                  <a:srgbClr val="2F7A55"/>
                </a:solidFill>
              </a:rPr>
              <a:t>CREDITSCOPE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D5C1A-7046-4801-BE0C-256650F3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517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218"/>
                </a:solidFill>
              </a:defRPr>
            </a:pPr>
            <a:r>
              <a:rPr sz="2850" b="1">
                <a:solidFill>
                  <a:srgbClr val="112218"/>
                </a:solidFill>
              </a:rPr>
              <a:t>Hafta 11 Finalizasyonu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77912-5403-420C-8815-9D786F9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5B52"/>
                </a:solidFill>
              </a:defRPr>
            </a:pPr>
            <a:r>
              <a:rPr sz="1500" b="0">
                <a:solidFill>
                  <a:srgbClr val="4E5B52"/>
                </a:solidFill>
              </a:rPr>
              <a:t>Recall odaklı kredi temerrüt tahmini, business rules ve canlı API/UI entegrasyonuyla teslim seviyesine getirildi.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37565-DCBE-4B99-96EE-6225A43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3C9C9-2B8E-4EFC-AA8D-4EF537E6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23A71-A132-47C0-8483-0A10A27C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69.01%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3CC11-EE7C-4C76-98BF-F79C7805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Final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0A26B-D22F-47D9-930F-FA130146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Hedef bandı korunuyor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9C473-7A86-47EE-B47B-761CCE7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94B36-2632-4296-B150-BE28E3EE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B3835-2562-4F02-89D2-615B5AF8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0.231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A78A9-C8B5-4BBD-A226-3A8B4103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623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Karar eşiği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73258-1DE5-4E31-B79A-B03B1AC7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90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Recall-first threshold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29A68-9324-488E-9F6D-A6ED3E53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12D19-326B-41F9-8A8F-7C9BED7B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32C45-CF91-48AF-B1CE-E05A826A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4 /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6C323-7A4B-40B1-9836-39BDA721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Demo senaryosu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2192A-EDE5-4F22-B552-7243F648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Edge-case dahil geçti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35FF7-6808-4718-9B81-C0131D0A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243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6023C-E152-4C73-A3CD-6C9042C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243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62E39-0609-4A26-8FCB-2D2FCD03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958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5 / 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39F7C7-E215-4CF5-9B56-8A8F6E09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768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API smoke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0C686-2323-4B22-A0D0-56F5EFE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UI + /predict doğrulandı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90E26-F3A5-4A04-A629-1DC6FE74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AF7F1"/>
                </a:solidFill>
              </a:defRPr>
            </a:pPr>
            <a:r>
              <a:rPr sz="1050" b="1">
                <a:solidFill>
                  <a:srgbClr val="FAF7F1"/>
                </a:solidFill>
              </a:rPr>
              <a:t>Final hikaye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8B4605-8FAC-440D-B655-8BBB8E42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29540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84651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7F1"/>
                </a:solidFill>
              </a:defRPr>
            </a:pPr>
            <a:r>
              <a:rPr sz="1500" b="0">
                <a:solidFill>
                  <a:srgbClr val="FAF7F1"/>
                </a:solidFill>
              </a:rPr>
              <a:t>Model seçimi artık sadece skor yarışı değil; açıklanabilir, denetlenebilir ve manuel incelemeyi destekleyen hibrit karar hattı.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a303842884c37"/>
          <a:stretch xmlns:a="http://schemas.openxmlformats.org/drawingml/2006/main"/>
        </p:blipFill>
        <p:spPr>
          <a:xfrm xmlns:a="http://schemas.openxmlformats.org/drawingml/2006/main">
            <a:off x="7642514" y="2343150"/>
            <a:ext cx="3117273" cy="23812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9DDAB-DE06-4B41-80C3-8B15D69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91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365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AF7F1"/>
                </a:solidFill>
              </a:defRPr>
            </a:pPr>
            <a:r>
              <a:rPr sz="900" b="0">
                <a:solidFill>
                  <a:srgbClr val="FAF7F1"/>
                </a:solidFill>
              </a:rPr>
              <a:t>19 Nisan 2026 final doğrulama</a:t>
            </a:r>
          </a:p>
        </p:txBody>
      </p:sp>
    </p:spTree>
    <p:extLst>
      <p:ext uri="{BB962C8B-B14F-4D97-AF65-F5344CB8AC3E}">
        <p14:creationId xmlns:p14="http://schemas.microsoft.com/office/powerpoint/2010/main" val="17889786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F2495-178F-4B18-80D5-F0BD5EED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AA8CF-8CD1-4F4C-A708-A5D41665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8BD41-F443-4F05-963C-23F942B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PROBLEM VE 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52AF8-A46D-42FA-9D4A-9CA16D8B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71C77-AE9E-4CF1-BDF2-03100764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18"/>
                </a:solidFill>
              </a:defRPr>
            </a:pPr>
            <a:r>
              <a:rPr sz="2325" b="1">
                <a:solidFill>
                  <a:srgbClr val="112218"/>
                </a:solidFill>
              </a:rPr>
              <a:t>Kredi riski problemi neden recall odaklı ele alındı?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AF492-E4BF-47CF-B304-5409042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9542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B52"/>
                </a:solidFill>
              </a:defRPr>
            </a:pPr>
            <a:r>
              <a:rPr sz="1275" b="0">
                <a:solidFill>
                  <a:srgbClr val="4E5B52"/>
                </a:solidFill>
              </a:rPr>
              <a:t>Amaç, riskli müşteriyi kaçırmamak; güvenilir müşteriyi manuel incelemeye göndermek daha kabul edilebilir bir maliyettir.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23414-38F4-41EB-B015-EB088398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4552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11C66-66E7-44FC-B47D-A008D2A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927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92D"/>
                </a:solidFill>
              </a:defRPr>
            </a:pPr>
            <a:r>
              <a:rPr sz="1275" b="1">
                <a:solidFill>
                  <a:srgbClr val="15392D"/>
                </a:solidFill>
              </a:rPr>
              <a:t>Problemin çerçevesi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46B4E-A402-48D5-972B-09E96D3C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2218"/>
                </a:solidFill>
              </a:defRPr>
            </a:pPr>
            <a:r>
              <a:rPr sz="1200" b="0">
                <a:solidFill>
                  <a:srgbClr val="112218"/>
                </a:solidFill>
              </a:rPr>
              <a:t>• İkili sınıflandırma: güvenilir müşteri vs riskli müşteri</a:t>
            </a:r>
          </a:p>
          <a:p xmlns:a="http://schemas.openxmlformats.org/drawingml/2006/main">
            <a:pPr algn="l">
              <a:defRPr sz="1200" b="0">
                <a:solidFill>
                  <a:srgbClr val="112218"/>
                </a:solidFill>
              </a:defRPr>
            </a:pPr>
            <a:r>
              <a:rPr sz="1200" b="0">
                <a:solidFill>
                  <a:srgbClr val="112218"/>
                </a:solidFill>
              </a:rPr>
              <a:t>• Yanlış negatifler kredi tarafında en kritik hata türü</a:t>
            </a:r>
          </a:p>
          <a:p xmlns:a="http://schemas.openxmlformats.org/drawingml/2006/main">
            <a:pPr algn="l">
              <a:defRPr sz="1200" b="0">
                <a:solidFill>
                  <a:srgbClr val="112218"/>
                </a:solidFill>
              </a:defRPr>
            </a:pPr>
            <a:r>
              <a:rPr sz="1200" b="0">
                <a:solidFill>
                  <a:srgbClr val="112218"/>
                </a:solidFill>
              </a:rPr>
              <a:t>• Bu yüzden karar eşiği 0.50 yerine 0.231'e çekildi</a:t>
            </a:r>
          </a:p>
          <a:p xmlns:a="http://schemas.openxmlformats.org/drawingml/2006/main">
            <a:pPr algn="l">
              <a:defRPr sz="1200" b="0">
                <a:solidFill>
                  <a:srgbClr val="112218"/>
                </a:solidFill>
              </a:defRPr>
            </a:pPr>
            <a:r>
              <a:rPr sz="1200" b="0">
                <a:solidFill>
                  <a:srgbClr val="112218"/>
                </a:solidFill>
              </a:rPr>
              <a:t>• Business rules katmanı yanlış pozitifleri daha yönetilebilir hale getiriyor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467FA-DAC1-48BE-9CB6-3533A59D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4552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02CE8-0826-436E-AE3D-F776A0FD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7750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392D"/>
                </a:solidFill>
              </a:defRPr>
            </a:pPr>
            <a:r>
              <a:rPr sz="1125" b="1">
                <a:solidFill>
                  <a:srgbClr val="15392D"/>
                </a:solidFill>
              </a:rPr>
              <a:t>EDA özeti: veri dağılımı dengesiz ve yaklaşık %79.6 güvenilir, %20.4 riskli yapı gösteriyor.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FD140-1AFD-4120-AA58-AB1D8637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62865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9FC78-F7EB-41A0-8CF0-318306AD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594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072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92D"/>
                </a:solidFill>
              </a:defRPr>
            </a:pPr>
            <a:r>
              <a:rPr sz="1200" b="1">
                <a:solidFill>
                  <a:srgbClr val="15392D"/>
                </a:solidFill>
              </a:rPr>
              <a:t>Sınıf dağılımı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562600" y="2705100"/>
          <a:ext xmlns:a="http://schemas.openxmlformats.org/drawingml/2006/main" cx="5829300" cy="2609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449f67ffaf4fd7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4BF17-98D4-4A1D-8041-340D9F53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531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4EE7E-7AA5-4D07-8D54-25A5EFE4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5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84F4C-5866-4305-8E03-227F9715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245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79.6%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AD357-70F0-4CBE-8468-EAFB0D00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055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Güvenilir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1AA74-FAF7-4A8D-AED1-F9FA9B39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34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Çoğunluk sınıf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738EE-71AB-4682-9E8C-3251543F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531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5B826-23F9-4BB8-987E-7D484C9A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5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35494-CB3F-4612-9883-297A37D9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9245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20.4%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CB736-FE17-4F97-960D-EF4FF122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3055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Riskli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A10B63-D038-4B66-BD1B-E0C07E7D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534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Azınlık sınıf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99251-8253-4C32-AF25-027408F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7531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83DCC-2244-49DA-8F40-18A8F174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75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64BDA2-B69F-4B22-ABBC-E0F38243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9245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SMOTE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0420C-F68D-4A6A-A364-3D685A45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3055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Dengeleme stratejisi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650002-BB38-43E3-BB77-848A3F78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34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Final eğitim hattında aktif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B873D-C1CB-47D8-91C2-63B38D3E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Hafta 1-4 çıktıları veri hazırlama, EDA ve problem tanımını netleştirdi.</a:t>
            </a:r>
          </a:p>
        </p:txBody>
      </p:sp>
    </p:spTree>
    <p:extLst>
      <p:ext uri="{BB962C8B-B14F-4D97-AF65-F5344CB8AC3E}">
        <p14:creationId xmlns:p14="http://schemas.microsoft.com/office/powerpoint/2010/main" val="8993783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D91EF-8DC0-4755-B4E3-ABA2DF35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86EDF-1B33-4E4F-B993-84A243A5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CBC8A-CB2C-4F49-B583-40585B5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HAZIRLIK HATTI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B3D73-AD14-4F27-9A6D-98CBED49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82F5F-2C13-4C95-A54D-ED5CEAD7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8164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18"/>
                </a:solidFill>
              </a:defRPr>
            </a:pPr>
            <a:r>
              <a:rPr sz="2325" b="1">
                <a:solidFill>
                  <a:srgbClr val="112218"/>
                </a:solidFill>
              </a:rPr>
              <a:t>Preprocessing ve feature engineering tek ortak boru hattında toplandı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04C62-0BF0-409C-8A5E-85E54AFB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B52"/>
                </a:solidFill>
              </a:defRPr>
            </a:pPr>
            <a:r>
              <a:rPr sz="1275" b="0">
                <a:solidFill>
                  <a:srgbClr val="4E5B52"/>
                </a:solidFill>
              </a:rPr>
              <a:t>Aynı veri işleme mantığı hem eğitimde hem de inference tarafında tekrar kullanılıyor.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0F0FA-291C-4819-9261-FC827A92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20383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70E52-A1E1-4C14-9F8E-B242B168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072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92D"/>
                </a:solidFill>
              </a:defRPr>
            </a:pPr>
            <a:r>
              <a:rPr sz="1200" b="1">
                <a:solidFill>
                  <a:srgbClr val="15392D"/>
                </a:solidFill>
              </a:rPr>
              <a:t>1. Temizleme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9F4D0-D9D5-441A-8082-E22485D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2218"/>
                </a:solidFill>
              </a:defRPr>
            </a:pPr>
            <a:r>
              <a:rPr sz="1050" b="0">
                <a:solidFill>
                  <a:srgbClr val="112218"/>
                </a:solidFill>
              </a:rPr>
              <a:t>Eksik değer, tip düzeltme, temel veri temizliği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F87CD-28F8-48C3-839F-0C4377A2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20383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6E9D9-9C46-4A0F-B9BD-8B819180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072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92D"/>
                </a:solidFill>
              </a:defRPr>
            </a:pPr>
            <a:r>
              <a:rPr sz="1200" b="1">
                <a:solidFill>
                  <a:srgbClr val="15392D"/>
                </a:solidFill>
              </a:rPr>
              <a:t>2. Encoding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7A50B-8836-4278-BB8C-BB140432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9085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2218"/>
                </a:solidFill>
              </a:defRPr>
            </a:pPr>
            <a:r>
              <a:rPr sz="1050" b="0">
                <a:solidFill>
                  <a:srgbClr val="112218"/>
                </a:solidFill>
              </a:rPr>
              <a:t>Kategorik değişkenler one-hot ile işlendi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D512F-AEA3-41B2-8FE1-C5768042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20383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8E8D1-7B99-4BFA-B403-D9703C16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479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072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92D"/>
                </a:solidFill>
              </a:defRPr>
            </a:pPr>
            <a:r>
              <a:rPr sz="1200" b="1">
                <a:solidFill>
                  <a:srgbClr val="15392D"/>
                </a:solidFill>
              </a:rPr>
              <a:t>3. Scaling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4F8B9-7D48-40D1-8524-75B11892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9085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2218"/>
                </a:solidFill>
              </a:defRPr>
            </a:pPr>
            <a:r>
              <a:rPr sz="1050" b="0">
                <a:solidFill>
                  <a:srgbClr val="112218"/>
                </a:solidFill>
              </a:rPr>
              <a:t>Sayısal alanlar ortak scaler ile normalize edildi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CDA02-B7BC-47F2-819D-F3DE87F3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20383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93C17-4C9E-48BD-BE9D-14F614E3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479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072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92D"/>
                </a:solidFill>
              </a:defRPr>
            </a:pPr>
            <a:r>
              <a:rPr sz="1200" b="1">
                <a:solidFill>
                  <a:srgbClr val="15392D"/>
                </a:solidFill>
              </a:rPr>
              <a:t>4. Feature Eng.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31141-FA35-48C9-B3DA-79215357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2218"/>
                </a:solidFill>
              </a:defRPr>
            </a:pPr>
            <a:r>
              <a:rPr sz="1050" b="0">
                <a:solidFill>
                  <a:srgbClr val="112218"/>
                </a:solidFill>
              </a:rPr>
              <a:t>DTIRatio ve Age_Income_Interaction eklendi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D345F-1BB2-4C79-8D1D-C55CED3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20383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3754F-83A5-4EDD-93CD-5FA2D22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072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92D"/>
                </a:solidFill>
              </a:defRPr>
            </a:pPr>
            <a:r>
              <a:rPr sz="1200" b="1">
                <a:solidFill>
                  <a:srgbClr val="15392D"/>
                </a:solidFill>
              </a:rPr>
              <a:t>5. Model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E0B7A-2694-4183-9695-A6591A9D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2218"/>
                </a:solidFill>
              </a:defRPr>
            </a:pPr>
            <a:r>
              <a:rPr sz="1050" b="0">
                <a:solidFill>
                  <a:srgbClr val="112218"/>
                </a:solidFill>
              </a:rPr>
              <a:t>25 özellikli final giriş vektörü üretildi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AFE66-3A17-4729-B50C-38FF3E18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953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6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127BE-AAA4-45EA-867E-0258D23B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820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392D"/>
                </a:solidFill>
              </a:defRPr>
            </a:pPr>
            <a:r>
              <a:rPr sz="1350" b="1">
                <a:solidFill>
                  <a:srgbClr val="15392D"/>
                </a:solidFill>
              </a:rPr>
              <a:t>Öne çıkan türetilmiş özellikler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7D058-B7FA-4145-AF8C-9C61B13C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4381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DTIRatio = LoanAmount / Income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31A1D2-8940-4010-8FD9-3D91E670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4381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Age_Income_Interaction = Age * Income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4D194E-9B49-4BDD-9AD2-D1E6BD21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5524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DC8E81-5097-45E5-ABA5-B762F92E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820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392D"/>
                </a:solidFill>
              </a:defRPr>
            </a:pPr>
            <a:r>
              <a:rPr sz="1350" b="1">
                <a:solidFill>
                  <a:srgbClr val="15392D"/>
                </a:solidFill>
              </a:rPr>
              <a:t>Neden önemli?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5FBBAE-AF2F-44C1-A643-93E2F174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996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218"/>
                </a:solidFill>
              </a:defRPr>
            </a:pPr>
            <a:r>
              <a:rPr sz="1125" b="0">
                <a:solidFill>
                  <a:srgbClr val="112218"/>
                </a:solidFill>
              </a:rPr>
              <a:t>• DTI kredi yükünü gelir bağlamında görünür kılıyor</a:t>
            </a:r>
          </a:p>
          <a:p xmlns:a="http://schemas.openxmlformats.org/drawingml/2006/main">
            <a:pPr algn="l">
              <a:defRPr sz="1125" b="0">
                <a:solidFill>
                  <a:srgbClr val="112218"/>
                </a:solidFill>
              </a:defRPr>
            </a:pPr>
            <a:r>
              <a:rPr sz="1125" b="0">
                <a:solidFill>
                  <a:srgbClr val="112218"/>
                </a:solidFill>
              </a:rPr>
              <a:t>• Age_Income_Interaction müşteri profilinin ekonomik olgunluğunu temsil ediyor</a:t>
            </a:r>
          </a:p>
          <a:p xmlns:a="http://schemas.openxmlformats.org/drawingml/2006/main">
            <a:pPr algn="l">
              <a:defRPr sz="1125" b="0">
                <a:solidFill>
                  <a:srgbClr val="112218"/>
                </a:solidFill>
              </a:defRPr>
            </a:pPr>
            <a:r>
              <a:rPr sz="1125" b="0">
                <a:solidFill>
                  <a:srgbClr val="112218"/>
                </a:solidFill>
              </a:rPr>
              <a:t>• Aynı hesaplamalar API tarafında tekrarlandığı için frontend'e güvenilmiyor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628C7F-7CC7-4416-A7DF-24DC43CC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Shared preprocessing yaklaşımı model eğitimi ile canlı tahmin hattını aynı mantıkta tutuyor.</a:t>
            </a:r>
          </a:p>
        </p:txBody>
      </p:sp>
    </p:spTree>
    <p:extLst>
      <p:ext uri="{BB962C8B-B14F-4D97-AF65-F5344CB8AC3E}">
        <p14:creationId xmlns:p14="http://schemas.microsoft.com/office/powerpoint/2010/main" val="259735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67B6D-C0D6-43D0-99D7-66A03147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B06F6-528F-4024-85FE-3E4709A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B9544-13B6-4F55-9B33-5F787E40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MODEL SEÇIMI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C3FD3-8BF0-4989-B195-1A664BF6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2EFCA-AB05-4E28-BDE4-5B902CF2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8374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18"/>
                </a:solidFill>
              </a:defRPr>
            </a:pPr>
            <a:r>
              <a:rPr sz="2325" b="1">
                <a:solidFill>
                  <a:srgbClr val="112218"/>
                </a:solidFill>
              </a:rPr>
              <a:t>Karşılaştırma yapıldı, fakat final teslim hattı XGBoost olarak korundu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EB955-3682-4A8F-B677-C2C35BF3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B52"/>
                </a:solidFill>
              </a:defRPr>
            </a:pPr>
            <a:r>
              <a:rPr sz="1275" b="0">
                <a:solidFill>
                  <a:srgbClr val="4E5B52"/>
                </a:solidFill>
              </a:rPr>
              <a:t>Karar yalnızca tek bir metrik üstünlüğüne göre değil; tuning, explainability ve deploy uyumuna göre verildi.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B1800-C207-4040-9213-1347830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68961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B0415-45AC-4878-98D5-DC3F5D3E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655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072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92D"/>
                </a:solidFill>
              </a:defRPr>
            </a:pPr>
            <a:r>
              <a:rPr sz="1200" b="1">
                <a:solidFill>
                  <a:srgbClr val="15392D"/>
                </a:solidFill>
              </a:rPr>
              <a:t>Accuracy / Precision / Recall / F1 (%)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62000" y="2705100"/>
          <a:ext xmlns:a="http://schemas.openxmlformats.org/drawingml/2006/main" cx="643890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3008f3e11e4459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0EF28-0621-4ECC-A30C-657435A8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71700"/>
            <a:ext cx="38862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BF14F-92D0-4A17-85D0-EC20158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730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392D"/>
                </a:solidFill>
              </a:defRPr>
            </a:pPr>
            <a:r>
              <a:rPr sz="1350" b="1">
                <a:solidFill>
                  <a:srgbClr val="15392D"/>
                </a:solidFill>
              </a:rPr>
              <a:t>Neden XGBoost?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868F6-9E3D-41EB-B977-850E69C0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860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218"/>
                </a:solidFill>
              </a:defRPr>
            </a:pPr>
            <a:r>
              <a:rPr sz="1125" b="0">
                <a:solidFill>
                  <a:srgbClr val="112218"/>
                </a:solidFill>
              </a:rPr>
              <a:t>• SMOTE + tuned hyperparameters + threshold kalibrasyonu bu hatta sabitlendi</a:t>
            </a:r>
          </a:p>
          <a:p xmlns:a="http://schemas.openxmlformats.org/drawingml/2006/main">
            <a:pPr algn="l">
              <a:defRPr sz="1125" b="0">
                <a:solidFill>
                  <a:srgbClr val="112218"/>
                </a:solidFill>
              </a:defRPr>
            </a:pPr>
            <a:r>
              <a:rPr sz="1125" b="0">
                <a:solidFill>
                  <a:srgbClr val="112218"/>
                </a:solidFill>
              </a:rPr>
              <a:t>• SHAP FP/FN analizi ve üretim artifact'leri XGBoost etrafında oluştu</a:t>
            </a:r>
          </a:p>
          <a:p xmlns:a="http://schemas.openxmlformats.org/drawingml/2006/main">
            <a:pPr algn="l">
              <a:defRPr sz="1125" b="0">
                <a:solidFill>
                  <a:srgbClr val="112218"/>
                </a:solidFill>
              </a:defRPr>
            </a:pPr>
            <a:r>
              <a:rPr sz="1125" b="0">
                <a:solidFill>
                  <a:srgbClr val="112218"/>
                </a:solidFill>
              </a:rPr>
              <a:t>• API ve UI entegrasyonu halihazırda bu modelle doğrulandı</a:t>
            </a:r>
          </a:p>
          <a:p xmlns:a="http://schemas.openxmlformats.org/drawingml/2006/main">
            <a:pPr algn="l">
              <a:defRPr sz="1125" b="0">
                <a:solidFill>
                  <a:srgbClr val="112218"/>
                </a:solidFill>
              </a:defRPr>
            </a:pPr>
            <a:r>
              <a:rPr sz="1125" b="0">
                <a:solidFill>
                  <a:srgbClr val="112218"/>
                </a:solidFill>
              </a:rPr>
              <a:t>• Recall 0.6901 ile hedef bandı korunuyor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835A5-BF25-4427-BF4B-68B68967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6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A29A4-9AA8-4F94-9D78-CAD8089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24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392D"/>
                </a:solidFill>
              </a:defRPr>
            </a:pPr>
            <a:r>
              <a:rPr sz="1200" b="1">
                <a:solidFill>
                  <a:srgbClr val="15392D"/>
                </a:solidFill>
              </a:rPr>
              <a:t>Benchmark notu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06F8A-F2E8-4A4D-90C9-AA267260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33950"/>
            <a:ext cx="2800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690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2218"/>
                </a:solidFill>
              </a:defRPr>
            </a:pPr>
            <a:r>
              <a:rPr sz="1050" b="0">
                <a:solidFill>
                  <a:srgbClr val="112218"/>
                </a:solidFill>
              </a:rPr>
              <a:t>Logistic Regression güçlü bir referans olarak kaldı; ancak Hafta 11 amacı yeni modele geçmek değil, çalışan final hattı resmileştirmekti.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8AF03-CC73-473C-A6C3-88412AD8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Final seçim: XGBoost deploy modeli korunur, Logistic Regression benchmark olarak not edilir.</a:t>
            </a:r>
          </a:p>
        </p:txBody>
      </p:sp>
    </p:spTree>
    <p:extLst>
      <p:ext uri="{BB962C8B-B14F-4D97-AF65-F5344CB8AC3E}">
        <p14:creationId xmlns:p14="http://schemas.microsoft.com/office/powerpoint/2010/main" val="1166659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C5D96-724C-4C65-8FDB-9A4880A6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F4BF8-6DDB-4861-8D2A-BA5B8670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AA7CD-2A5B-4D9F-8702-EB27DE14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FINAL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F1530-312D-47B1-A98E-865FA0F6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05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130C5-AE3F-473C-9FA3-F35F047B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8458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18"/>
                </a:solidFill>
              </a:defRPr>
            </a:pPr>
            <a:r>
              <a:rPr sz="2325" b="1">
                <a:solidFill>
                  <a:srgbClr val="112218"/>
                </a:solidFill>
              </a:rPr>
              <a:t>Dondurulan teknik hat: SMOTE + tuned XGBoost + threshold +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A4DCD-5FA5-49AB-8E4A-EA6CB1B5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B52"/>
                </a:solidFill>
              </a:defRPr>
            </a:pPr>
            <a:r>
              <a:rPr sz="1275" b="0">
                <a:solidFill>
                  <a:srgbClr val="4E5B52"/>
                </a:solidFill>
              </a:rPr>
              <a:t>Hafta 11'de yeni bir kurgu kurulmadı; çalışan hattın parametreleri ve davranışı donduruldu.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6D986-D258-4FC5-975D-D9CA8015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69532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A9648-832B-4229-8292-4DF0E757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820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392D"/>
                </a:solidFill>
              </a:defRPr>
            </a:pPr>
            <a:r>
              <a:rPr sz="1350" b="1">
                <a:solidFill>
                  <a:srgbClr val="15392D"/>
                </a:solidFill>
              </a:rPr>
              <a:t>Final karar akışı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7976F-E329-436D-A0BB-ACB4559F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104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6F0EA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896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Shared</a:t>
            </a:r>
          </a:p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preprocessing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D49D9-AE6D-476C-8B4E-6265EB37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0E1D4-1E44-4EE6-9CBF-5821E031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1104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ECD1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SMOTE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80070-DBB3-46AA-B5CC-4C9EC873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0D6A-077D-4CE5-80DA-97984748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9900"/>
            <a:ext cx="1104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9F7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Tuned</a:t>
            </a:r>
          </a:p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XGBoost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DE7B8-5E21-4BDB-A9CA-2ACB6965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A2E1B-66BA-4495-B6C8-BDC84762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104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5E0DA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Threshold</a:t>
            </a:r>
          </a:p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0.231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70179-6F02-41CB-880F-6ABB9EF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66484-0CAE-49D3-A2CB-897CE2A9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1104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Business</a:t>
            </a:r>
          </a:p>
          <a:p xmlns:a="http://schemas.openxmlformats.org/drawingml/2006/main">
            <a:pPr algn="ctr">
              <a:defRPr sz="1275" b="1">
                <a:solidFill>
                  <a:srgbClr val="112218"/>
                </a:solidFill>
              </a:defRPr>
            </a:pPr>
            <a:r>
              <a:rPr sz="1275" b="1">
                <a:solidFill>
                  <a:srgbClr val="112218"/>
                </a:solidFill>
              </a:rPr>
              <a:t>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D593F-D0A1-4594-B2CB-3B186FA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653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8635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E5B52"/>
                </a:solidFill>
              </a:defRPr>
            </a:pPr>
            <a:r>
              <a:rPr sz="1050" b="0">
                <a:solidFill>
                  <a:srgbClr val="4E5B52"/>
                </a:solidFill>
              </a:rPr>
              <a:t>Final model parametreleri: learning_rate=0.08, max_depth=3, n_estimators=220, subsample=0.7, colsample_bytree=0.85, gamma=1.0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D7060-5856-4B96-9DDA-02C1CE8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68207-B51F-47F9-AFCD-C0F318CF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4D58B-AE9F-4CBD-9A29-48D7CB31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69.01%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36555-97A3-40A7-8187-443D7CD5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1424C-6AB4-4360-A375-DCDC0609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Final hedef bandı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C49C5-C2E4-4189-A781-3AA3AECE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431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602C4B-EEC6-40C6-8A23-B1F1D81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43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A5629-3F05-4133-BFAD-0E5D4D4C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146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0.231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400F6-DC2E-4C7D-8EAB-94A554C2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8956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Threshold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526F5-85AC-4B44-AC5D-B25B9287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24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Önceki davranış stabil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97FE0A-CCCE-4629-A179-36BD431D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5F3C6F-9333-455D-9893-8BB578B1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56B199-C1BF-48DE-B9A1-823835D9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1838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29000-9A4F-4CAF-A2B7-FF4494CE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False Negative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3037C-3756-42F3-A781-D84EB27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Kaçırılmak istenmeyen grup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A946A9-1E2E-4269-8A8C-92F88ACB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576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BED274-83B2-4AE3-8E4E-4814821D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576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C4A742-80FF-4F9E-88FB-3F019D9B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8290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0879C5-16A8-4BD0-85AB-A3E1AE22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2100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Feature Count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76FB29-990B-47D5-9301-55B12B18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438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Final giriş boyutu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6DF456-41D7-4363-A1CC-1AA362DC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48958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1F9DBA-FCF1-4B36-98F9-68EFFB14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95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Business rule version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A2F4F5-1DEE-4BEB-9BFB-FCCFF33A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24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24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218"/>
                </a:solidFill>
              </a:defRPr>
            </a:pPr>
            <a:r>
              <a:rPr sz="1200" b="1">
                <a:solidFill>
                  <a:srgbClr val="112218"/>
                </a:solidFill>
              </a:rPr>
              <a:t>default-review-2026-04-19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A2163-977F-4FE4-8FF5-2973103D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340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E5B52"/>
                </a:solidFill>
              </a:defRPr>
            </a:pPr>
            <a:r>
              <a:rPr sz="975" b="0">
                <a:solidFill>
                  <a:srgbClr val="4E5B52"/>
                </a:solidFill>
              </a:rPr>
              <a:t>Yeni kural yazılmadı; mevcut ağırlıklar aynen korundu.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1E56B6-BD96-40A6-A2A3-19B2F08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Bu slide final sistemin hangi teknik seçimlerle dondurulduğunu özetler.</a:t>
            </a:r>
          </a:p>
        </p:txBody>
      </p:sp>
    </p:spTree>
    <p:extLst>
      <p:ext uri="{BB962C8B-B14F-4D97-AF65-F5344CB8AC3E}">
        <p14:creationId xmlns:p14="http://schemas.microsoft.com/office/powerpoint/2010/main" val="5669154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9E6EC-64A3-477F-8FCB-D7AF9CA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326E2-C364-47F1-B9A4-9F0A3015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4C93A-5C94-4F29-BE22-A4C807A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HYBRID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DBD78-5AFC-43E7-8374-544980FD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06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79E92-4B91-449E-9D5C-FE6963F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7411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18"/>
                </a:solidFill>
              </a:defRPr>
            </a:pPr>
            <a:r>
              <a:rPr sz="2325" b="1">
                <a:solidFill>
                  <a:srgbClr val="112218"/>
                </a:solidFill>
              </a:rPr>
              <a:t>Business rules modeli değiştirmeden kararı daha denetlenebilir hale getiriyor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FBF42-F1B7-4DF6-8377-C4825E1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B52"/>
                </a:solidFill>
              </a:defRPr>
            </a:pPr>
            <a:r>
              <a:rPr sz="1275" b="0">
                <a:solidFill>
                  <a:srgbClr val="4E5B52"/>
                </a:solidFill>
              </a:rPr>
              <a:t>Ham model skoru ile düzeltilmiş skor birlikte gösterildiği için karar hattı uzman incelemesine açık kalıyor.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DF4A7-72EE-4BBE-BF59-4A955E07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40767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992AA-B734-4F17-B6E3-9B69538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820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392D"/>
                </a:solidFill>
              </a:defRPr>
            </a:pPr>
            <a:r>
              <a:rPr sz="1350" b="1">
                <a:solidFill>
                  <a:srgbClr val="15392D"/>
                </a:solidFill>
              </a:rPr>
              <a:t>Karar akışı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BD27A-72F2-4E83-B923-A57708C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F0EA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Başvuru verisi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7E724-40ED-4C1F-B05F-8730637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EEF7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Model olasılığı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2D333-F820-418C-BC1C-582DBB27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ECD1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Rule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85BAA-1E82-4699-BDE1-C9A32BB5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E0DA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Final karar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99015-C32A-4610-BAED-A08268B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3718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58A34-BFDB-45B3-9EA0-353481EE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1910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8F85C-D73B-42C2-A256-CB0F282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0101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86271-F379-47A3-8DC4-4C09079B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67100"/>
            <a:ext cx="1581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5F0E6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18"/>
                </a:solidFill>
              </a:defRPr>
            </a:pPr>
            <a:r>
              <a:rPr sz="1275" b="0">
                <a:solidFill>
                  <a:srgbClr val="112218"/>
                </a:solidFill>
              </a:rPr>
              <a:t>Ham model skoru + rule adjustments + threshold = kullanıcıya açıklanabilir karar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9FF31-2D03-4432-B0FD-6DDB6C4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3086100" cy="3905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9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00ED4-D9CD-4B75-B9D4-DE2AD690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820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392D"/>
                </a:solidFill>
              </a:defRPr>
            </a:pPr>
            <a:r>
              <a:rPr sz="1350" b="1">
                <a:solidFill>
                  <a:srgbClr val="15392D"/>
                </a:solidFill>
              </a:rPr>
              <a:t>Riski azaltan kurallar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C560D-8469-486E-8601-5136D01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19400"/>
            <a:ext cx="266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6C7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CreditScore &gt;= 750  -&gt;  %20 azalt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5AAC4-F4A4-4C9A-A42E-10B2B7B1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90900"/>
            <a:ext cx="266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6C7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DTIRatio &lt;= 0.35  -&gt;  %10 azalt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DDC31-44A4-4260-A690-66712D7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62400"/>
            <a:ext cx="266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6C7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36+ ay full-time  -&gt;  %10 azalt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85006-F9BE-4403-B540-F23E56A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33900"/>
            <a:ext cx="266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6C7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Kefil var  -&gt;  %10 azalt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D9208-FDA6-48AA-93B0-09676E47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3333750" cy="3905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55E1A-73D5-4E57-926A-D9D63096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820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392D"/>
                </a:solidFill>
              </a:defRPr>
            </a:pPr>
            <a:r>
              <a:rPr sz="1350" b="1">
                <a:solidFill>
                  <a:srgbClr val="15392D"/>
                </a:solidFill>
              </a:rPr>
              <a:t>Riski artıran kurallar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AF808-93DE-4A55-BE92-85823676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194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2B8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DTIRatio &gt;= 0.50  -&gt;  %20 artır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D07B1-11C7-4AFE-A7F0-AFD9C4E2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2B8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CreditScore &lt; 600  -&gt;  %15 artır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BE328-5810-4B79-A868-985A8597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386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2B8"/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218"/>
                </a:solidFill>
              </a:defRPr>
            </a:pPr>
            <a:r>
              <a:rPr sz="1125" b="1">
                <a:solidFill>
                  <a:srgbClr val="112218"/>
                </a:solidFill>
              </a:rPr>
              <a:t>İşsiz veya &lt; 6 ay  -&gt;  %15 artır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9DB770-1A62-47BA-B7F5-9DCEE3FC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33950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946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218"/>
                </a:solidFill>
              </a:defRPr>
            </a:pPr>
            <a:r>
              <a:rPr sz="1125" b="0">
                <a:solidFill>
                  <a:srgbClr val="112218"/>
                </a:solidFill>
              </a:rPr>
              <a:t>Amaç modeli override etmek değil; gereksiz alarmı azaltırken uzman incelemesini desteklemek.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40C740-7E77-49B9-AE9A-CB604EEE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Rule layer final sürümde değiştirilmedi; sayısal etkiler aynen korundu.</a:t>
            </a:r>
          </a:p>
        </p:txBody>
      </p:sp>
    </p:spTree>
    <p:extLst>
      <p:ext uri="{BB962C8B-B14F-4D97-AF65-F5344CB8AC3E}">
        <p14:creationId xmlns:p14="http://schemas.microsoft.com/office/powerpoint/2010/main" val="8406817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9CA46-D20F-43B3-8EF4-15FC3E05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E8047-DCDC-4443-BDE9-65862FB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8C638-A468-473B-B08F-FBB9EE4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EXPLAINABILITY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E10E7-204A-4381-BA74-05128B19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3F017-6000-4A37-AF1E-7732E240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8954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18"/>
                </a:solidFill>
              </a:defRPr>
            </a:pPr>
            <a:r>
              <a:rPr sz="2325" b="1">
                <a:solidFill>
                  <a:srgbClr val="112218"/>
                </a:solidFill>
              </a:rPr>
              <a:t>SHAP ve FP/FN analizi modelin neden yanıldığını görünür kılıyor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5F454-5BA8-43BD-8A59-084D0450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B52"/>
                </a:solidFill>
              </a:defRPr>
            </a:pPr>
            <a:r>
              <a:rPr sz="1275" b="0">
                <a:solidFill>
                  <a:srgbClr val="4E5B52"/>
                </a:solidFill>
              </a:rPr>
              <a:t>Hafta 7-10 boyunca kurulan explainability hattı, final model seçiminin önemli parçası olarak korundu.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E75D2-E91D-4103-A4D8-0C65DC9F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53911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86DFC-29AA-462E-9089-5A8718EA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927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92D"/>
                </a:solidFill>
              </a:defRPr>
            </a:pPr>
            <a:r>
              <a:rPr sz="1275" b="1">
                <a:solidFill>
                  <a:srgbClr val="15392D"/>
                </a:solidFill>
              </a:rPr>
              <a:t>False Positive SHAP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a8875344f43e3"/>
          <a:stretch xmlns:a="http://schemas.openxmlformats.org/drawingml/2006/main"/>
        </p:blipFill>
        <p:spPr>
          <a:xfrm xmlns:a="http://schemas.openxmlformats.org/drawingml/2006/main">
            <a:off x="2436125" y="2686050"/>
            <a:ext cx="1585699" cy="1885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B3D5B-4A10-43C8-8986-E54AA89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53911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FE921-3AF8-48F7-B046-57B7345A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927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92D"/>
                </a:solidFill>
              </a:defRPr>
            </a:pPr>
            <a:r>
              <a:rPr sz="1275" b="1">
                <a:solidFill>
                  <a:srgbClr val="15392D"/>
                </a:solidFill>
              </a:rPr>
              <a:t>False Negative SHAP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317c008df499e"/>
          <a:stretch xmlns:a="http://schemas.openxmlformats.org/drawingml/2006/main"/>
        </p:blipFill>
        <p:spPr>
          <a:xfrm xmlns:a="http://schemas.openxmlformats.org/drawingml/2006/main">
            <a:off x="8170175" y="2686050"/>
            <a:ext cx="1585699" cy="18859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5C442-B0B9-47EB-B7B3-05F4DB23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820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392D"/>
                </a:solidFill>
              </a:defRPr>
            </a:pPr>
            <a:r>
              <a:rPr sz="1350" b="1">
                <a:solidFill>
                  <a:srgbClr val="15392D"/>
                </a:solidFill>
              </a:rPr>
              <a:t>Karışıklık matrisi özeti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B4B97-295D-4187-B9E6-04B1DA61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43D1B-33C7-4AC7-A05C-EC274ED4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92A40-DA31-4B7D-AD28-9CEB950E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30773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BDE4D-3543-4B96-8D6E-A87624C3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True 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C88B6-BDB4-4BF7-8ED7-851CC0CB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Güvenilir ve doğru sınıflanan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9C085-15D3-4E14-9AB9-32119342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102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D179C-3B02-4F81-BCAD-F71F0C02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102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FA227-5181-41AE-AEFF-38880E72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816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14366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D1B0E-2002-4D17-8A82-BF5C909C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626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False Positive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50243-5BE6-4B2C-BF47-00B1CB3E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Manuel incelemeye kayabilir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3A07F-F0EA-4993-9002-769B047E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102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21495-7A82-4F4D-8C9B-2C5537B9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102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82EC1-5D2F-44BD-9E2E-D6B4E397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816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1838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4A645-44BE-41BF-BBD4-93E2F5C3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9626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False Negative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16367-5AE2-48FA-8E68-86AEC9F5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191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Kaçırılmak istenmeyen grup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65F7A-1FE3-4282-8A4B-60813237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102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DDE06-324F-4F9B-9104-46729FB0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102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DB91CB-A644-4661-802F-088EB949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816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681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218"/>
                </a:solidFill>
              </a:defRPr>
            </a:pPr>
            <a:r>
              <a:rPr sz="2100" b="1">
                <a:solidFill>
                  <a:srgbClr val="112218"/>
                </a:solidFill>
              </a:rPr>
              <a:t>4093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2F90DE-C8D8-4371-8F67-3E7FD307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9626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351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True Positive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625A18-F5A5-47D8-8019-1D0E359B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91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Riskli ve doğru sınıflanan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AAFDB9-B8ED-43C8-B42A-C9EDF58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Final explainability çıktıları: FP/FN SHAP görselleri ve error analysis summary dosyası.</a:t>
            </a:r>
          </a:p>
        </p:txBody>
      </p:sp>
    </p:spTree>
    <p:extLst>
      <p:ext uri="{BB962C8B-B14F-4D97-AF65-F5344CB8AC3E}">
        <p14:creationId xmlns:p14="http://schemas.microsoft.com/office/powerpoint/2010/main" val="18801504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D90F5-86F7-48A6-BDB7-B408D74D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A9498-E1BA-4853-B8C4-BF99F392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9513-968F-4639-BEB7-0C53F6D9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FINAL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FB649-8C5F-4B5D-836C-ADD3574E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3645B-0410-4172-8DAC-148CFF78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18"/>
                </a:solidFill>
              </a:defRPr>
            </a:pPr>
            <a:r>
              <a:rPr sz="2325" b="1">
                <a:solidFill>
                  <a:srgbClr val="112218"/>
                </a:solidFill>
              </a:rPr>
              <a:t>UI, API ve demo hattı tekrar çalıştırıldı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B2377-17E2-48A4-B39E-73837D4C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934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B52"/>
                </a:solidFill>
              </a:defRPr>
            </a:pPr>
            <a:r>
              <a:rPr sz="1275" b="0">
                <a:solidFill>
                  <a:srgbClr val="4E5B52"/>
                </a:solidFill>
              </a:rPr>
              <a:t>Hafta 11 doğrulaması eğitim metriklerini, SHAP çıktısını, smoke testleri ve dört farklı demo senaryosunu birlikte kontrol etti.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8F16F-08C8-45EB-9B97-F0850F91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46482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FE11D-61A0-4413-B5E4-BCBEA5F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927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92D"/>
                </a:solidFill>
              </a:defRPr>
            </a:pPr>
            <a:r>
              <a:rPr sz="1275" b="1">
                <a:solidFill>
                  <a:srgbClr val="15392D"/>
                </a:solidFill>
              </a:rPr>
              <a:t>UI kanıt görseli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9e835f63c48f7"/>
          <a:stretch xmlns:a="http://schemas.openxmlformats.org/drawingml/2006/main"/>
        </p:blipFill>
        <p:spPr>
          <a:xfrm xmlns:a="http://schemas.openxmlformats.org/drawingml/2006/main">
            <a:off x="1074420" y="2705100"/>
            <a:ext cx="3566160" cy="2724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1A831-EF63-4C27-910D-01726942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71700"/>
            <a:ext cx="62293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C38AD-2113-45D9-8BEE-46F85546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62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927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92D"/>
                </a:solidFill>
              </a:defRPr>
            </a:pPr>
            <a:r>
              <a:rPr sz="1275" b="1">
                <a:solidFill>
                  <a:srgbClr val="15392D"/>
                </a:solidFill>
              </a:rPr>
              <a:t>Demo senaryoları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24A1D-AD89-4967-A997-D1CC0722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4320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0E6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FCEAF-DB1A-46F5-9F52-5E0CFF4C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4320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6FECE-2399-45B6-BB82-CEA419ED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146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369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392D"/>
                </a:solidFill>
              </a:defRPr>
            </a:pPr>
            <a:r>
              <a:rPr sz="1125" b="1">
                <a:solidFill>
                  <a:srgbClr val="15392D"/>
                </a:solidFill>
              </a:rPr>
              <a:t>Düşük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D1E73-30C8-4590-A409-D98588D2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385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1703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218"/>
                </a:solidFill>
              </a:defRPr>
            </a:pPr>
            <a:r>
              <a:rPr sz="1050" b="1">
                <a:solidFill>
                  <a:srgbClr val="112218"/>
                </a:solidFill>
              </a:rPr>
              <a:t>Onaylanabilir Profil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6A50D-089B-47A7-9096-FE0834B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671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6826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B52"/>
                </a:solidFill>
              </a:defRPr>
            </a:pPr>
            <a:r>
              <a:rPr sz="900" b="0">
                <a:solidFill>
                  <a:srgbClr val="4E5B52"/>
                </a:solidFill>
              </a:rPr>
              <a:t>Model: %8.24</a:t>
            </a:r>
          </a:p>
          <a:p xmlns:a="http://schemas.openxmlformats.org/drawingml/2006/main">
            <a:pPr algn="l">
              <a:defRPr sz="900" b="0">
                <a:solidFill>
                  <a:srgbClr val="4E5B52"/>
                </a:solidFill>
              </a:defRPr>
            </a:pPr>
            <a:r>
              <a:rPr sz="900" b="0">
                <a:solidFill>
                  <a:srgbClr val="4E5B52"/>
                </a:solidFill>
              </a:rPr>
              <a:t>Düzeltilmiş: %4.81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12E96-89F3-41CC-9684-AF33845C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0E6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E7FA5-CE2E-4021-A521-65C1FBA6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1BEF8-A9FA-4814-B364-CAE82364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369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392D"/>
                </a:solidFill>
              </a:defRPr>
            </a:pPr>
            <a:r>
              <a:rPr sz="1125" b="1">
                <a:solidFill>
                  <a:srgbClr val="15392D"/>
                </a:solidFill>
              </a:rPr>
              <a:t>Manuel İnceleme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6A9A2-CF3F-4680-BD30-8858F179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385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1703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218"/>
                </a:solidFill>
              </a:defRPr>
            </a:pPr>
            <a:r>
              <a:rPr sz="1050" b="1">
                <a:solidFill>
                  <a:srgbClr val="112218"/>
                </a:solidFill>
              </a:rPr>
              <a:t>Manuel İnceleme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C1F0E-59D2-44D5-9DAC-F62CA17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671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6826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B52"/>
                </a:solidFill>
              </a:defRPr>
            </a:pPr>
            <a:r>
              <a:rPr sz="900" b="0">
                <a:solidFill>
                  <a:srgbClr val="4E5B52"/>
                </a:solidFill>
              </a:rPr>
              <a:t>Model: %40.01</a:t>
            </a:r>
          </a:p>
          <a:p xmlns:a="http://schemas.openxmlformats.org/drawingml/2006/main">
            <a:pPr algn="l">
              <a:defRPr sz="900" b="0">
                <a:solidFill>
                  <a:srgbClr val="4E5B52"/>
                </a:solidFill>
              </a:defRPr>
            </a:pPr>
            <a:r>
              <a:rPr sz="900" b="0">
                <a:solidFill>
                  <a:srgbClr val="4E5B52"/>
                </a:solidFill>
              </a:rPr>
              <a:t>Düzeltilmiş: %48.02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ED81E-0D10-4465-B3B6-3FDCAE0A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0E6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661D7-4DCD-4FF0-85B2-71D6DCF8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5066B-539B-4E62-83B6-283CB286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369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392D"/>
                </a:solidFill>
              </a:defRPr>
            </a:pPr>
            <a:r>
              <a:rPr sz="1125" b="1">
                <a:solidFill>
                  <a:srgbClr val="15392D"/>
                </a:solidFill>
              </a:rPr>
              <a:t>Yüksek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59A44-2661-4243-88AD-4865BFE6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910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1703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218"/>
                </a:solidFill>
              </a:defRPr>
            </a:pPr>
            <a:r>
              <a:rPr sz="1050" b="1">
                <a:solidFill>
                  <a:srgbClr val="112218"/>
                </a:solidFill>
              </a:rPr>
              <a:t>Manuel İnceleme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1794F-7D01-4B79-B2E7-3050FD4B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6826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B52"/>
                </a:solidFill>
              </a:defRPr>
            </a:pPr>
            <a:r>
              <a:rPr sz="900" b="0">
                <a:solidFill>
                  <a:srgbClr val="4E5B52"/>
                </a:solidFill>
              </a:rPr>
              <a:t>Model: %58.04</a:t>
            </a:r>
          </a:p>
          <a:p xmlns:a="http://schemas.openxmlformats.org/drawingml/2006/main">
            <a:pPr algn="l">
              <a:defRPr sz="900" b="0">
                <a:solidFill>
                  <a:srgbClr val="4E5B52"/>
                </a:solidFill>
              </a:defRPr>
            </a:pPr>
            <a:r>
              <a:rPr sz="900" b="0">
                <a:solidFill>
                  <a:srgbClr val="4E5B52"/>
                </a:solidFill>
              </a:rPr>
              <a:t>Düzeltilmiş: %92.11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A82A7-1424-4B64-B357-FCAFDEE6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957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0E6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EFACB1-2FC4-42E2-87B1-8ED9544A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957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74B0DA-ED81-4118-8B9C-A4130FA6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4369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392D"/>
                </a:solidFill>
              </a:defRPr>
            </a:pPr>
            <a:r>
              <a:rPr sz="1125" b="1">
                <a:solidFill>
                  <a:srgbClr val="15392D"/>
                </a:solidFill>
              </a:rPr>
              <a:t>Güçlü Skor, Zayıf İstihdam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524A5-ADE6-463E-9491-A3890CB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910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1703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218"/>
                </a:solidFill>
              </a:defRPr>
            </a:pPr>
            <a:r>
              <a:rPr sz="1050" b="1">
                <a:solidFill>
                  <a:srgbClr val="112218"/>
                </a:solidFill>
              </a:rPr>
              <a:t>Manuel İnceleme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0B7B6-0A37-401E-8A1F-E8048BD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6826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B52"/>
                </a:solidFill>
              </a:defRPr>
            </a:pPr>
            <a:r>
              <a:rPr sz="900" b="0">
                <a:solidFill>
                  <a:srgbClr val="4E5B52"/>
                </a:solidFill>
              </a:rPr>
              <a:t>Model: %26.68</a:t>
            </a:r>
          </a:p>
          <a:p xmlns:a="http://schemas.openxmlformats.org/drawingml/2006/main">
            <a:pPr algn="l">
              <a:defRPr sz="900" b="0">
                <a:solidFill>
                  <a:srgbClr val="4E5B52"/>
                </a:solidFill>
              </a:defRPr>
            </a:pPr>
            <a:r>
              <a:rPr sz="900" b="0">
                <a:solidFill>
                  <a:srgbClr val="4E5B52"/>
                </a:solidFill>
              </a:rPr>
              <a:t>Düzeltilmiş: %24.54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54A5D7-B1D6-4306-AD03-A21432D5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13ECD-ABB6-472A-82C9-33C9669C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340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2D"/>
                </a:solidFill>
              </a:defRPr>
            </a:pPr>
            <a:r>
              <a:rPr sz="1050" b="1">
                <a:solidFill>
                  <a:srgbClr val="15392D"/>
                </a:solidFill>
              </a:rPr>
              <a:t>Smoke test: GET /, GET /static/style.css, GET /static/script.js, POST /predict düşük risk ve POST /predict edge-case uçları 200 döndü.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D5E118-C25E-4F20-8EB7-6DDD9467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Sonuç: 4/4 demo senaryosu ve 5/5 smoke check geçti.</a:t>
            </a:r>
          </a:p>
        </p:txBody>
      </p:sp>
    </p:spTree>
    <p:extLst>
      <p:ext uri="{BB962C8B-B14F-4D97-AF65-F5344CB8AC3E}">
        <p14:creationId xmlns:p14="http://schemas.microsoft.com/office/powerpoint/2010/main" val="1210792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9DFA24-610D-4EC7-A71E-2418E9BA3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C9CC0-36FF-4B7E-8364-8053F169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76568-776D-47CC-ABC1-7498054C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440BC-FD3F-4A12-9C40-AFA1B55F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FUTURE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37651-C190-4844-9304-84DBC9A5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520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AF7F1"/>
                </a:solidFill>
              </a:defRPr>
            </a:pPr>
            <a:r>
              <a:rPr sz="975" b="1">
                <a:solidFill>
                  <a:srgbClr val="FAF7F1"/>
                </a:solidFill>
              </a:rPr>
              <a:t>09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50822-9FA0-4CF5-9BD8-39BBE24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7744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218"/>
                </a:solidFill>
              </a:defRPr>
            </a:pPr>
            <a:r>
              <a:rPr sz="2325" b="1">
                <a:solidFill>
                  <a:srgbClr val="112218"/>
                </a:solidFill>
              </a:rPr>
              <a:t>Bir sonraki adım yeniden kurmak değil, mevcut hibrit hattı olgunlaştırmak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40736-D8B9-49C1-91B1-72CDEB96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867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5B52"/>
                </a:solidFill>
              </a:defRPr>
            </a:pPr>
            <a:r>
              <a:rPr sz="1275" b="0">
                <a:solidFill>
                  <a:srgbClr val="4E5B52"/>
                </a:solidFill>
              </a:rPr>
              <a:t>Hafta 11 sonunda CreditScope teslim seviyesine ulaştı; sonraki odak daha ölçülebilir, daha izlenebilir ve daha kurumsal hale getirmek olmalı.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2EBFD-CA02-4547-A4F3-60A51FF9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63147-3E4E-436A-8191-01ABE1A3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C5296-EA13-4D4A-B081-15ABF82E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B52"/>
                </a:solidFill>
              </a:defRPr>
            </a:pPr>
            <a:r>
              <a:rPr sz="900" b="1">
                <a:solidFill>
                  <a:srgbClr val="4E5B52"/>
                </a:solidFill>
              </a:rPr>
              <a:t>1. Öncelik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74732-1FA1-4904-B257-08EEF2A9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162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Rule engine etkilerini veriyle kalibre etmek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83E35-4E82-4444-8EB9-AB319332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DEFC1-AB0D-4C68-AAEC-A8C413C1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52214-C571-490D-A950-35A647E4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B52"/>
                </a:solidFill>
              </a:defRPr>
            </a:pPr>
            <a:r>
              <a:rPr sz="900" b="1">
                <a:solidFill>
                  <a:srgbClr val="4E5B52"/>
                </a:solidFill>
              </a:rPr>
              <a:t>2. Öncelik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D1231-D2AA-4871-ACF6-C0DCB7E8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3162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Maliyet-duyarlı threshold ve precision-recall optimizasyonu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9D244-83B3-4133-85DB-772B4E76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5F459-DEA2-45FF-AD16-36CA95C8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275BD-4D12-483C-91A2-38043BE2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B52"/>
                </a:solidFill>
              </a:defRPr>
            </a:pPr>
            <a:r>
              <a:rPr sz="900" b="1">
                <a:solidFill>
                  <a:srgbClr val="4E5B52"/>
                </a:solidFill>
              </a:rPr>
              <a:t>3. Öncelik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B30D3-334B-4EF2-B8DA-A845F508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3162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Monitoring ve drift takibi eklemek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E020F-CEF5-4C72-9A7D-839B123F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E8BFE-FBF6-420D-9399-D82F75CC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C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8D5CB-92E3-484D-B6E9-89160C2E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86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B52"/>
                </a:solidFill>
              </a:defRPr>
            </a:pPr>
            <a:r>
              <a:rPr sz="900" b="1">
                <a:solidFill>
                  <a:srgbClr val="4E5B52"/>
                </a:solidFill>
              </a:rPr>
              <a:t>4. Öncelik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374B6-869A-4882-8F5B-0CDFA3FC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33900"/>
            <a:ext cx="3162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Karar gerekçesi ekranını güçlendirmek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A80B3-66E2-4E88-ABAD-E26ACEEC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B5FE9-571A-4EFB-B93A-DEAC889D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74F29-F73A-43E0-A6BF-929D1023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5B52"/>
                </a:solidFill>
              </a:defRPr>
            </a:pPr>
            <a:r>
              <a:rPr sz="900" b="1">
                <a:solidFill>
                  <a:srgbClr val="4E5B52"/>
                </a:solidFill>
              </a:rPr>
              <a:t>5. Öncelik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01DD6-E2A5-4EE7-B716-817DCF53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3162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18"/>
                </a:solidFill>
              </a:defRPr>
            </a:pPr>
            <a:r>
              <a:rPr sz="1350" b="1">
                <a:solidFill>
                  <a:srgbClr val="112218"/>
                </a:solidFill>
              </a:rPr>
              <a:t>Daha geniş veri ve etik/regülasyon doğrulaması yapmak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5FF3D-F9E4-42A6-9D2D-AA01DD9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62650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4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CE4C63-964A-44B1-972F-2BFA4460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57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ctr">
            <a:normAutofit fontScale="21845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AF7F1"/>
                </a:solidFill>
              </a:defRPr>
            </a:pPr>
            <a:r>
              <a:rPr sz="1125" b="1">
                <a:solidFill>
                  <a:srgbClr val="FAF7F1"/>
                </a:solidFill>
              </a:rPr>
              <a:t>CreditScope'un bir sonraki evrimi: veriyle kalibre edilmiş, drift izleyen ve karar gerekçesini daha iyi anlatan hibrit bir kredi karar sistemi.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EECFF0-1B15-4A20-8C0D-09BA25F2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133350" bIns="95250" anchor="t">
            <a:normAutofit fontScale="2978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E5B52"/>
                </a:solidFill>
              </a:defRPr>
            </a:pPr>
            <a:r>
              <a:rPr sz="825" b="0">
                <a:solidFill>
                  <a:srgbClr val="4E5B52"/>
                </a:solidFill>
              </a:rPr>
              <a:t>Kapanış: proje ML deneyi olmaktan çıkıp bankacılık mantığıyla çalışan bir karar destek kokpitine dönüştü.</a:t>
            </a:r>
          </a:p>
        </p:txBody>
      </p:sp>
    </p:spTree>
    <p:extLst>
      <p:ext uri="{BB962C8B-B14F-4D97-AF65-F5344CB8AC3E}">
        <p14:creationId xmlns:p14="http://schemas.microsoft.com/office/powerpoint/2010/main" val="1032619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2026-04-19T14:58:39.2480000Z</dcterms:created>
  <dcterms:modified xsi:type="dcterms:W3CDTF">2026-04-19T14:58:39.2480000Z</dcterms:modified>
</coreProperties>
</file>